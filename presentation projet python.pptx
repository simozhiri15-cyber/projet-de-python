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chivo Black" panose="020B0604020202020204" charset="0"/>
      <p:regular r:id="rId12"/>
    </p:embeddedFon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Inter Light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2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5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02015" y="1028700"/>
            <a:ext cx="9585770" cy="8229600"/>
            <a:chOff x="0" y="0"/>
            <a:chExt cx="94674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6743" cy="812800"/>
            </a:xfrm>
            <a:custGeom>
              <a:avLst/>
              <a:gdLst/>
              <a:ahLst/>
              <a:cxnLst/>
              <a:rect l="l" t="t" r="r" b="b"/>
              <a:pathLst>
                <a:path w="946743" h="812800">
                  <a:moveTo>
                    <a:pt x="40382" y="0"/>
                  </a:moveTo>
                  <a:lnTo>
                    <a:pt x="906360" y="0"/>
                  </a:lnTo>
                  <a:cubicBezTo>
                    <a:pt x="917070" y="0"/>
                    <a:pt x="927342" y="4255"/>
                    <a:pt x="934915" y="11828"/>
                  </a:cubicBezTo>
                  <a:cubicBezTo>
                    <a:pt x="942488" y="19401"/>
                    <a:pt x="946743" y="29672"/>
                    <a:pt x="946743" y="40382"/>
                  </a:cubicBezTo>
                  <a:lnTo>
                    <a:pt x="946743" y="772418"/>
                  </a:lnTo>
                  <a:cubicBezTo>
                    <a:pt x="946743" y="783128"/>
                    <a:pt x="942488" y="793399"/>
                    <a:pt x="934915" y="800972"/>
                  </a:cubicBezTo>
                  <a:cubicBezTo>
                    <a:pt x="927342" y="808545"/>
                    <a:pt x="917070" y="812800"/>
                    <a:pt x="906360" y="812800"/>
                  </a:cubicBezTo>
                  <a:lnTo>
                    <a:pt x="40382" y="812800"/>
                  </a:lnTo>
                  <a:cubicBezTo>
                    <a:pt x="29672" y="812800"/>
                    <a:pt x="19401" y="808545"/>
                    <a:pt x="11828" y="800972"/>
                  </a:cubicBezTo>
                  <a:cubicBezTo>
                    <a:pt x="4255" y="793399"/>
                    <a:pt x="0" y="783128"/>
                    <a:pt x="0" y="772418"/>
                  </a:cubicBezTo>
                  <a:lnTo>
                    <a:pt x="0" y="40382"/>
                  </a:lnTo>
                  <a:cubicBezTo>
                    <a:pt x="0" y="29672"/>
                    <a:pt x="4255" y="19401"/>
                    <a:pt x="11828" y="11828"/>
                  </a:cubicBezTo>
                  <a:cubicBezTo>
                    <a:pt x="19401" y="4255"/>
                    <a:pt x="29672" y="0"/>
                    <a:pt x="40382" y="0"/>
                  </a:cubicBezTo>
                  <a:close/>
                </a:path>
              </a:pathLst>
            </a:custGeom>
            <a:blipFill>
              <a:blip r:embed="rId2"/>
              <a:stretch>
                <a:fillRect t="-8239" b="-8239"/>
              </a:stretch>
            </a:blipFill>
            <a:ln w="381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8280022" y="1028700"/>
            <a:ext cx="11738374" cy="8229600"/>
            <a:chOff x="0" y="0"/>
            <a:chExt cx="3091588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91588" cy="2167467"/>
            </a:xfrm>
            <a:custGeom>
              <a:avLst/>
              <a:gdLst/>
              <a:ahLst/>
              <a:cxnLst/>
              <a:rect l="l" t="t" r="r" b="b"/>
              <a:pathLst>
                <a:path w="3091588" h="2167467">
                  <a:moveTo>
                    <a:pt x="32977" y="0"/>
                  </a:moveTo>
                  <a:lnTo>
                    <a:pt x="3058611" y="0"/>
                  </a:lnTo>
                  <a:cubicBezTo>
                    <a:pt x="3067357" y="0"/>
                    <a:pt x="3075745" y="3474"/>
                    <a:pt x="3081930" y="9659"/>
                  </a:cubicBezTo>
                  <a:cubicBezTo>
                    <a:pt x="3088114" y="15843"/>
                    <a:pt x="3091588" y="24231"/>
                    <a:pt x="3091588" y="32977"/>
                  </a:cubicBezTo>
                  <a:lnTo>
                    <a:pt x="3091588" y="2134490"/>
                  </a:lnTo>
                  <a:cubicBezTo>
                    <a:pt x="3091588" y="2143236"/>
                    <a:pt x="3088114" y="2151624"/>
                    <a:pt x="3081930" y="2157808"/>
                  </a:cubicBezTo>
                  <a:cubicBezTo>
                    <a:pt x="3075745" y="2163992"/>
                    <a:pt x="3067357" y="2167467"/>
                    <a:pt x="3058611" y="2167467"/>
                  </a:cubicBezTo>
                  <a:lnTo>
                    <a:pt x="32977" y="2167467"/>
                  </a:lnTo>
                  <a:cubicBezTo>
                    <a:pt x="24231" y="2167467"/>
                    <a:pt x="15843" y="2163992"/>
                    <a:pt x="9659" y="2157808"/>
                  </a:cubicBezTo>
                  <a:cubicBezTo>
                    <a:pt x="3474" y="2151624"/>
                    <a:pt x="0" y="2143236"/>
                    <a:pt x="0" y="2134490"/>
                  </a:cubicBezTo>
                  <a:lnTo>
                    <a:pt x="0" y="32977"/>
                  </a:lnTo>
                  <a:cubicBezTo>
                    <a:pt x="0" y="24231"/>
                    <a:pt x="3474" y="15843"/>
                    <a:pt x="9659" y="9659"/>
                  </a:cubicBezTo>
                  <a:cubicBezTo>
                    <a:pt x="15843" y="3474"/>
                    <a:pt x="24231" y="0"/>
                    <a:pt x="3297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3091588" cy="2167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" y="34513"/>
            <a:ext cx="2819400" cy="765587"/>
          </a:xfrm>
          <a:custGeom>
            <a:avLst/>
            <a:gdLst/>
            <a:ahLst/>
            <a:cxnLst/>
            <a:rect l="l" t="t" r="r" b="b"/>
            <a:pathLst>
              <a:path w="3682175" h="994187">
                <a:moveTo>
                  <a:pt x="0" y="0"/>
                </a:moveTo>
                <a:lnTo>
                  <a:pt x="3682175" y="0"/>
                </a:lnTo>
                <a:lnTo>
                  <a:pt x="3682175" y="994187"/>
                </a:lnTo>
                <a:lnTo>
                  <a:pt x="0" y="9941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711022" y="1693930"/>
            <a:ext cx="8985188" cy="5863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81"/>
              </a:lnSpc>
            </a:pPr>
            <a:r>
              <a:rPr lang="en-US" sz="9979" spc="-479">
                <a:solidFill>
                  <a:srgbClr val="875D1E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SYSTÈME DE GESTION DE REFUGE ANIMALIER (SAFEHAVEN)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11022" y="7844345"/>
            <a:ext cx="8985188" cy="189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2169" spc="-41">
                <a:solidFill>
                  <a:srgbClr val="875D1E"/>
                </a:solidFill>
                <a:latin typeface="Inter"/>
                <a:ea typeface="Inter"/>
                <a:cs typeface="Inter"/>
                <a:sym typeface="Inter"/>
              </a:rPr>
              <a:t>Réalisé par : MOHAMMED ABDELKODDOUS ZHIRI</a:t>
            </a:r>
          </a:p>
          <a:p>
            <a:pPr algn="ctr">
              <a:lnSpc>
                <a:spcPts val="2494"/>
              </a:lnSpc>
            </a:pPr>
            <a:r>
              <a:rPr lang="en-US" sz="2169" spc="-41">
                <a:solidFill>
                  <a:srgbClr val="875D1E"/>
                </a:solidFill>
                <a:latin typeface="Inter"/>
                <a:ea typeface="Inter"/>
                <a:cs typeface="Inter"/>
                <a:sym typeface="Inter"/>
              </a:rPr>
              <a:t>L’ENSEIGNANT : Pr.MOHAMED GHAZOUANI</a:t>
            </a:r>
          </a:p>
          <a:p>
            <a:pPr algn="ctr">
              <a:lnSpc>
                <a:spcPts val="2494"/>
              </a:lnSpc>
            </a:pPr>
            <a:r>
              <a:rPr lang="en-US" sz="2169" spc="-41">
                <a:solidFill>
                  <a:srgbClr val="875D1E"/>
                </a:solidFill>
                <a:latin typeface="Inter"/>
                <a:ea typeface="Inter"/>
                <a:cs typeface="Inter"/>
                <a:sym typeface="Inter"/>
              </a:rPr>
              <a:t>Année Universitaire 2025-2026</a:t>
            </a:r>
          </a:p>
          <a:p>
            <a:pPr algn="l">
              <a:lnSpc>
                <a:spcPts val="2494"/>
              </a:lnSpc>
            </a:pPr>
            <a:endParaRPr lang="en-US" sz="2169" spc="-41">
              <a:solidFill>
                <a:srgbClr val="875D1E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2494"/>
              </a:lnSpc>
            </a:pPr>
            <a:endParaRPr lang="en-US" sz="2169" spc="-41">
              <a:solidFill>
                <a:srgbClr val="875D1E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2494"/>
              </a:lnSpc>
            </a:pPr>
            <a:endParaRPr lang="en-US" sz="2169" spc="-41">
              <a:solidFill>
                <a:srgbClr val="875D1E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5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1155848"/>
            <a:ext cx="9565668" cy="10414148"/>
            <a:chOff x="0" y="0"/>
            <a:chExt cx="2519353" cy="27428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19353" cy="2742821"/>
            </a:xfrm>
            <a:custGeom>
              <a:avLst/>
              <a:gdLst/>
              <a:ahLst/>
              <a:cxnLst/>
              <a:rect l="l" t="t" r="r" b="b"/>
              <a:pathLst>
                <a:path w="2519353" h="2742821">
                  <a:moveTo>
                    <a:pt x="40467" y="0"/>
                  </a:moveTo>
                  <a:lnTo>
                    <a:pt x="2478886" y="0"/>
                  </a:lnTo>
                  <a:cubicBezTo>
                    <a:pt x="2489618" y="0"/>
                    <a:pt x="2499911" y="4263"/>
                    <a:pt x="2507500" y="11853"/>
                  </a:cubicBezTo>
                  <a:cubicBezTo>
                    <a:pt x="2515089" y="19442"/>
                    <a:pt x="2519353" y="29735"/>
                    <a:pt x="2519353" y="40467"/>
                  </a:cubicBezTo>
                  <a:lnTo>
                    <a:pt x="2519353" y="2702353"/>
                  </a:lnTo>
                  <a:cubicBezTo>
                    <a:pt x="2519353" y="2713086"/>
                    <a:pt x="2515089" y="2723379"/>
                    <a:pt x="2507500" y="2730968"/>
                  </a:cubicBezTo>
                  <a:cubicBezTo>
                    <a:pt x="2499911" y="2738557"/>
                    <a:pt x="2489618" y="2742821"/>
                    <a:pt x="2478886" y="2742821"/>
                  </a:cubicBezTo>
                  <a:lnTo>
                    <a:pt x="40467" y="2742821"/>
                  </a:lnTo>
                  <a:cubicBezTo>
                    <a:pt x="29735" y="2742821"/>
                    <a:pt x="19442" y="2738557"/>
                    <a:pt x="11853" y="2730968"/>
                  </a:cubicBezTo>
                  <a:cubicBezTo>
                    <a:pt x="4263" y="2723379"/>
                    <a:pt x="0" y="2713086"/>
                    <a:pt x="0" y="2702353"/>
                  </a:cubicBezTo>
                  <a:lnTo>
                    <a:pt x="0" y="40467"/>
                  </a:lnTo>
                  <a:cubicBezTo>
                    <a:pt x="0" y="29735"/>
                    <a:pt x="4263" y="19442"/>
                    <a:pt x="11853" y="11853"/>
                  </a:cubicBezTo>
                  <a:cubicBezTo>
                    <a:pt x="19442" y="4263"/>
                    <a:pt x="29735" y="0"/>
                    <a:pt x="404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519353" cy="2742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46295" y="1028700"/>
            <a:ext cx="6413005" cy="10319761"/>
            <a:chOff x="0" y="0"/>
            <a:chExt cx="633383" cy="10192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3383" cy="1019236"/>
            </a:xfrm>
            <a:custGeom>
              <a:avLst/>
              <a:gdLst/>
              <a:ahLst/>
              <a:cxnLst/>
              <a:rect l="l" t="t" r="r" b="b"/>
              <a:pathLst>
                <a:path w="633383" h="1019236">
                  <a:moveTo>
                    <a:pt x="60361" y="0"/>
                  </a:moveTo>
                  <a:lnTo>
                    <a:pt x="573022" y="0"/>
                  </a:lnTo>
                  <a:cubicBezTo>
                    <a:pt x="606359" y="0"/>
                    <a:pt x="633383" y="27025"/>
                    <a:pt x="633383" y="60361"/>
                  </a:cubicBezTo>
                  <a:lnTo>
                    <a:pt x="633383" y="958875"/>
                  </a:lnTo>
                  <a:cubicBezTo>
                    <a:pt x="633383" y="992211"/>
                    <a:pt x="606359" y="1019236"/>
                    <a:pt x="573022" y="1019236"/>
                  </a:cubicBezTo>
                  <a:lnTo>
                    <a:pt x="60361" y="1019236"/>
                  </a:lnTo>
                  <a:cubicBezTo>
                    <a:pt x="27025" y="1019236"/>
                    <a:pt x="0" y="992211"/>
                    <a:pt x="0" y="958875"/>
                  </a:cubicBezTo>
                  <a:lnTo>
                    <a:pt x="0" y="60361"/>
                  </a:lnTo>
                  <a:cubicBezTo>
                    <a:pt x="0" y="27025"/>
                    <a:pt x="27025" y="0"/>
                    <a:pt x="60361" y="0"/>
                  </a:cubicBezTo>
                  <a:close/>
                </a:path>
              </a:pathLst>
            </a:custGeom>
            <a:blipFill>
              <a:blip r:embed="rId2"/>
              <a:stretch>
                <a:fillRect t="-5484" b="-5484"/>
              </a:stretch>
            </a:blipFill>
            <a:ln w="3810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521942" y="587741"/>
            <a:ext cx="8579185" cy="1903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4"/>
              </a:lnSpc>
            </a:pPr>
            <a:r>
              <a:rPr lang="en-US" sz="7905" spc="-379">
                <a:solidFill>
                  <a:srgbClr val="875D1E"/>
                </a:solidFill>
                <a:latin typeface="Archivo Black"/>
                <a:ea typeface="Archivo Black"/>
                <a:cs typeface="Archivo Black"/>
                <a:sym typeface="Archivo Black"/>
              </a:rPr>
              <a:t>PLAN DE LA PRÉSENTATION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63988" y="2863240"/>
            <a:ext cx="7695093" cy="6141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831" lvl="1" indent="-352916" algn="ctr">
              <a:lnSpc>
                <a:spcPts val="4119"/>
              </a:lnSpc>
              <a:buAutoNum type="arabicPeriod"/>
            </a:pPr>
            <a:r>
              <a:rPr lang="en-US" sz="3269" b="1" dirty="0" err="1">
                <a:solidFill>
                  <a:srgbClr val="875D1E"/>
                </a:solidFill>
                <a:latin typeface="Inter Bold"/>
                <a:ea typeface="Inter Bold"/>
                <a:cs typeface="Inter Bold"/>
                <a:sym typeface="Inter Bold"/>
              </a:rPr>
              <a:t>Présentation</a:t>
            </a:r>
            <a:r>
              <a:rPr lang="en-US" sz="3269" b="1" dirty="0">
                <a:solidFill>
                  <a:srgbClr val="875D1E"/>
                </a:solidFill>
                <a:latin typeface="Inter Bold"/>
                <a:ea typeface="Inter Bold"/>
                <a:cs typeface="Inter Bold"/>
                <a:sym typeface="Inter Bold"/>
              </a:rPr>
              <a:t> du Projet</a:t>
            </a:r>
          </a:p>
          <a:p>
            <a:pPr algn="ctr">
              <a:lnSpc>
                <a:spcPts val="4119"/>
              </a:lnSpc>
            </a:pPr>
            <a:endParaRPr lang="en-US" sz="3269" b="1" dirty="0">
              <a:solidFill>
                <a:srgbClr val="875D1E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352915" lvl="1" algn="ctr">
              <a:lnSpc>
                <a:spcPts val="4119"/>
              </a:lnSpc>
            </a:pPr>
            <a:r>
              <a:rPr lang="en-US" sz="3269" b="1" dirty="0">
                <a:solidFill>
                  <a:srgbClr val="875D1E"/>
                </a:solidFill>
                <a:latin typeface="Inter Bold"/>
                <a:ea typeface="Inter Bold"/>
                <a:cs typeface="Inter Bold"/>
                <a:sym typeface="Inter Bold"/>
              </a:rPr>
              <a:t>2.Analyse </a:t>
            </a:r>
            <a:r>
              <a:rPr lang="en-US" sz="3269" b="1" dirty="0" err="1">
                <a:solidFill>
                  <a:srgbClr val="875D1E"/>
                </a:solidFill>
                <a:latin typeface="Inter Bold"/>
                <a:ea typeface="Inter Bold"/>
                <a:cs typeface="Inter Bold"/>
                <a:sym typeface="Inter Bold"/>
              </a:rPr>
              <a:t>Fonctionnelle</a:t>
            </a:r>
            <a:endParaRPr lang="en-US" sz="3269" b="1" dirty="0">
              <a:solidFill>
                <a:srgbClr val="875D1E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ctr">
              <a:lnSpc>
                <a:spcPts val="4119"/>
              </a:lnSpc>
            </a:pPr>
            <a:endParaRPr lang="en-US" sz="3269" b="1" dirty="0">
              <a:solidFill>
                <a:srgbClr val="875D1E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352915" lvl="1" algn="ctr">
              <a:lnSpc>
                <a:spcPts val="4119"/>
              </a:lnSpc>
            </a:pPr>
            <a:r>
              <a:rPr lang="en-US" sz="3269" b="1" dirty="0">
                <a:solidFill>
                  <a:srgbClr val="875D1E"/>
                </a:solidFill>
                <a:latin typeface="Inter Bold"/>
                <a:ea typeface="Inter Bold"/>
                <a:cs typeface="Inter Bold"/>
                <a:sym typeface="Inter Bold"/>
              </a:rPr>
              <a:t>3.Architecture &amp; Base de Données</a:t>
            </a:r>
          </a:p>
          <a:p>
            <a:pPr algn="ctr">
              <a:lnSpc>
                <a:spcPts val="4119"/>
              </a:lnSpc>
            </a:pPr>
            <a:endParaRPr lang="en-US" sz="3269" b="1" dirty="0">
              <a:solidFill>
                <a:srgbClr val="875D1E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352915" lvl="1" algn="ctr">
              <a:lnSpc>
                <a:spcPts val="4119"/>
              </a:lnSpc>
            </a:pPr>
            <a:r>
              <a:rPr lang="en-US" sz="3269" b="1" dirty="0">
                <a:solidFill>
                  <a:srgbClr val="875D1E"/>
                </a:solidFill>
                <a:latin typeface="Inter Bold"/>
                <a:ea typeface="Inter Bold"/>
                <a:cs typeface="Inter Bold"/>
                <a:sym typeface="Inter Bold"/>
              </a:rPr>
              <a:t>4.Spécifications Techniques</a:t>
            </a:r>
          </a:p>
          <a:p>
            <a:pPr algn="ctr">
              <a:lnSpc>
                <a:spcPts val="4119"/>
              </a:lnSpc>
            </a:pPr>
            <a:endParaRPr lang="en-US" sz="3269" b="1" dirty="0">
              <a:solidFill>
                <a:srgbClr val="875D1E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352915" lvl="1" algn="ctr">
              <a:lnSpc>
                <a:spcPts val="4119"/>
              </a:lnSpc>
            </a:pPr>
            <a:r>
              <a:rPr lang="en-US" sz="3269" b="1" dirty="0">
                <a:solidFill>
                  <a:srgbClr val="875D1E"/>
                </a:solidFill>
                <a:latin typeface="Inter Bold"/>
                <a:ea typeface="Inter Bold"/>
                <a:cs typeface="Inter Bold"/>
                <a:sym typeface="Inter Bold"/>
              </a:rPr>
              <a:t>5.Interface </a:t>
            </a:r>
            <a:r>
              <a:rPr lang="en-US" sz="3269" b="1" dirty="0" err="1">
                <a:solidFill>
                  <a:srgbClr val="875D1E"/>
                </a:solidFill>
                <a:latin typeface="Inter Bold"/>
                <a:ea typeface="Inter Bold"/>
                <a:cs typeface="Inter Bold"/>
                <a:sym typeface="Inter Bold"/>
              </a:rPr>
              <a:t>Utilisateur</a:t>
            </a:r>
            <a:endParaRPr lang="en-US" sz="3269" b="1" dirty="0">
              <a:solidFill>
                <a:srgbClr val="875D1E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ctr">
              <a:lnSpc>
                <a:spcPts val="4119"/>
              </a:lnSpc>
            </a:pPr>
            <a:endParaRPr lang="en-US" sz="3269" b="1" dirty="0">
              <a:solidFill>
                <a:srgbClr val="875D1E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352915" lvl="1" algn="ctr">
              <a:lnSpc>
                <a:spcPts val="4119"/>
              </a:lnSpc>
            </a:pPr>
            <a:r>
              <a:rPr lang="en-US" sz="3269" b="1" dirty="0">
                <a:solidFill>
                  <a:srgbClr val="875D1E"/>
                </a:solidFill>
                <a:latin typeface="Inter Bold"/>
                <a:ea typeface="Inter Bold"/>
                <a:cs typeface="Inter Bold"/>
                <a:sym typeface="Inter Bold"/>
              </a:rPr>
              <a:t>6.Livrables &amp; Conclusion</a:t>
            </a:r>
          </a:p>
          <a:p>
            <a:pPr algn="l">
              <a:lnSpc>
                <a:spcPts val="2733"/>
              </a:lnSpc>
            </a:pPr>
            <a:endParaRPr lang="en-US" sz="3269" b="1" dirty="0">
              <a:solidFill>
                <a:srgbClr val="875D1E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76406533-C7B6-015E-8B1B-ED31FA98F315}"/>
              </a:ext>
            </a:extLst>
          </p:cNvPr>
          <p:cNvSpPr/>
          <p:nvPr/>
        </p:nvSpPr>
        <p:spPr>
          <a:xfrm>
            <a:off x="1" y="34513"/>
            <a:ext cx="2819400" cy="765587"/>
          </a:xfrm>
          <a:custGeom>
            <a:avLst/>
            <a:gdLst/>
            <a:ahLst/>
            <a:cxnLst/>
            <a:rect l="l" t="t" r="r" b="b"/>
            <a:pathLst>
              <a:path w="3682175" h="994187">
                <a:moveTo>
                  <a:pt x="0" y="0"/>
                </a:moveTo>
                <a:lnTo>
                  <a:pt x="3682175" y="0"/>
                </a:lnTo>
                <a:lnTo>
                  <a:pt x="3682175" y="994187"/>
                </a:lnTo>
                <a:lnTo>
                  <a:pt x="0" y="9941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5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6413005" cy="8229600"/>
            <a:chOff x="0" y="0"/>
            <a:chExt cx="63338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3383" cy="812800"/>
            </a:xfrm>
            <a:custGeom>
              <a:avLst/>
              <a:gdLst/>
              <a:ahLst/>
              <a:cxnLst/>
              <a:rect l="l" t="t" r="r" b="b"/>
              <a:pathLst>
                <a:path w="633383" h="812800">
                  <a:moveTo>
                    <a:pt x="60361" y="0"/>
                  </a:moveTo>
                  <a:lnTo>
                    <a:pt x="573022" y="0"/>
                  </a:lnTo>
                  <a:cubicBezTo>
                    <a:pt x="606359" y="0"/>
                    <a:pt x="633383" y="27025"/>
                    <a:pt x="633383" y="60361"/>
                  </a:cubicBezTo>
                  <a:lnTo>
                    <a:pt x="633383" y="752439"/>
                  </a:lnTo>
                  <a:cubicBezTo>
                    <a:pt x="633383" y="785775"/>
                    <a:pt x="606359" y="812800"/>
                    <a:pt x="573022" y="812800"/>
                  </a:cubicBezTo>
                  <a:lnTo>
                    <a:pt x="60361" y="812800"/>
                  </a:lnTo>
                  <a:cubicBezTo>
                    <a:pt x="27025" y="812800"/>
                    <a:pt x="0" y="785775"/>
                    <a:pt x="0" y="752439"/>
                  </a:cubicBezTo>
                  <a:lnTo>
                    <a:pt x="0" y="60361"/>
                  </a:lnTo>
                  <a:cubicBezTo>
                    <a:pt x="0" y="27025"/>
                    <a:pt x="27025" y="0"/>
                    <a:pt x="60361" y="0"/>
                  </a:cubicBezTo>
                  <a:close/>
                </a:path>
              </a:pathLst>
            </a:custGeom>
            <a:blipFill>
              <a:blip r:embed="rId2"/>
              <a:stretch>
                <a:fillRect l="-79951" r="-79951"/>
              </a:stretch>
            </a:blipFill>
            <a:ln w="381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644641" y="1028700"/>
            <a:ext cx="11738374" cy="8229600"/>
            <a:chOff x="0" y="0"/>
            <a:chExt cx="3091588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91588" cy="2167467"/>
            </a:xfrm>
            <a:custGeom>
              <a:avLst/>
              <a:gdLst/>
              <a:ahLst/>
              <a:cxnLst/>
              <a:rect l="l" t="t" r="r" b="b"/>
              <a:pathLst>
                <a:path w="3091588" h="2167467">
                  <a:moveTo>
                    <a:pt x="32977" y="0"/>
                  </a:moveTo>
                  <a:lnTo>
                    <a:pt x="3058611" y="0"/>
                  </a:lnTo>
                  <a:cubicBezTo>
                    <a:pt x="3067357" y="0"/>
                    <a:pt x="3075745" y="3474"/>
                    <a:pt x="3081930" y="9659"/>
                  </a:cubicBezTo>
                  <a:cubicBezTo>
                    <a:pt x="3088114" y="15843"/>
                    <a:pt x="3091588" y="24231"/>
                    <a:pt x="3091588" y="32977"/>
                  </a:cubicBezTo>
                  <a:lnTo>
                    <a:pt x="3091588" y="2134490"/>
                  </a:lnTo>
                  <a:cubicBezTo>
                    <a:pt x="3091588" y="2143236"/>
                    <a:pt x="3088114" y="2151624"/>
                    <a:pt x="3081930" y="2157808"/>
                  </a:cubicBezTo>
                  <a:cubicBezTo>
                    <a:pt x="3075745" y="2163992"/>
                    <a:pt x="3067357" y="2167467"/>
                    <a:pt x="3058611" y="2167467"/>
                  </a:cubicBezTo>
                  <a:lnTo>
                    <a:pt x="32977" y="2167467"/>
                  </a:lnTo>
                  <a:cubicBezTo>
                    <a:pt x="24231" y="2167467"/>
                    <a:pt x="15843" y="2163992"/>
                    <a:pt x="9659" y="2157808"/>
                  </a:cubicBezTo>
                  <a:cubicBezTo>
                    <a:pt x="3474" y="2151624"/>
                    <a:pt x="0" y="2143236"/>
                    <a:pt x="0" y="2134490"/>
                  </a:cubicBezTo>
                  <a:lnTo>
                    <a:pt x="0" y="32977"/>
                  </a:lnTo>
                  <a:cubicBezTo>
                    <a:pt x="0" y="24231"/>
                    <a:pt x="3474" y="15843"/>
                    <a:pt x="9659" y="9659"/>
                  </a:cubicBezTo>
                  <a:cubicBezTo>
                    <a:pt x="15843" y="3474"/>
                    <a:pt x="24231" y="0"/>
                    <a:pt x="3297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3091588" cy="2167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762979" y="1761571"/>
            <a:ext cx="8247068" cy="1903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4"/>
              </a:lnSpc>
            </a:pPr>
            <a:r>
              <a:rPr lang="en-US" sz="7905" spc="-379">
                <a:solidFill>
                  <a:srgbClr val="875D1E"/>
                </a:solidFill>
                <a:latin typeface="Archivo Black"/>
                <a:ea typeface="Archivo Black"/>
                <a:cs typeface="Archivo Black"/>
                <a:sym typeface="Archivo Black"/>
              </a:rPr>
              <a:t>PRÉSENTATION DU PROJET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62979" y="3803435"/>
            <a:ext cx="5302348" cy="90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9"/>
              </a:lnSpc>
            </a:pPr>
            <a:r>
              <a:rPr lang="en-US" sz="3069" spc="-58">
                <a:solidFill>
                  <a:srgbClr val="875D1E"/>
                </a:solidFill>
                <a:latin typeface="Inter"/>
                <a:ea typeface="Inter"/>
                <a:cs typeface="Inter"/>
                <a:sym typeface="Inter"/>
              </a:rPr>
              <a:t>Contexte &amp; Problématique</a:t>
            </a:r>
          </a:p>
          <a:p>
            <a:pPr algn="l">
              <a:lnSpc>
                <a:spcPts val="3529"/>
              </a:lnSpc>
            </a:pPr>
            <a:endParaRPr lang="en-US" sz="3069" spc="-58">
              <a:solidFill>
                <a:srgbClr val="875D1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62979" y="4689700"/>
            <a:ext cx="8496321" cy="205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3"/>
              </a:lnSpc>
            </a:pPr>
            <a:r>
              <a:rPr lang="en-US" sz="21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›Les refuges gèrent des dizaines d'animaux simultanément.</a:t>
            </a:r>
          </a:p>
          <a:p>
            <a:pPr algn="just">
              <a:lnSpc>
                <a:spcPts val="2733"/>
              </a:lnSpc>
            </a:pPr>
            <a:r>
              <a:rPr lang="en-US" sz="21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› Les fichiers Excel et les papiers sont sources d'erreurs et de perte de données.</a:t>
            </a:r>
          </a:p>
          <a:p>
            <a:pPr algn="just">
              <a:lnSpc>
                <a:spcPts val="2733"/>
              </a:lnSpc>
            </a:pPr>
            <a:r>
              <a:rPr lang="en-US" sz="21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› Le suivi médical et les adoptions manquent de traçabilité.</a:t>
            </a:r>
          </a:p>
          <a:p>
            <a:pPr algn="just">
              <a:lnSpc>
                <a:spcPts val="2733"/>
              </a:lnSpc>
            </a:pPr>
            <a:r>
              <a:rPr lang="en-US" sz="21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› Besoin d'un outil centralisé, accessible et collaboratif.</a:t>
            </a:r>
          </a:p>
          <a:p>
            <a:pPr algn="just">
              <a:lnSpc>
                <a:spcPts val="2733"/>
              </a:lnSpc>
            </a:pPr>
            <a:endParaRPr lang="en-US" sz="2169">
              <a:solidFill>
                <a:srgbClr val="875D1E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762979" y="7044618"/>
            <a:ext cx="9220530" cy="1415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369" b="1" spc="-45">
                <a:solidFill>
                  <a:srgbClr val="875D1E"/>
                </a:solidFill>
                <a:latin typeface="Inter Bold"/>
                <a:ea typeface="Inter Bold"/>
                <a:cs typeface="Inter Bold"/>
                <a:sym typeface="Inter Bold"/>
              </a:rPr>
              <a:t>Objectif :</a:t>
            </a:r>
            <a:r>
              <a:rPr lang="en-US" sz="2369" spc="-45">
                <a:solidFill>
                  <a:srgbClr val="875D1E"/>
                </a:solidFill>
                <a:latin typeface="Inter"/>
                <a:ea typeface="Inter"/>
                <a:cs typeface="Inter"/>
                <a:sym typeface="Inter"/>
              </a:rPr>
              <a:t> Simplifier le travail des équipes de refuge grâce à une interface intuitive, un suivi complet des animaux et un processus d'adoption digitalisé.</a:t>
            </a:r>
          </a:p>
          <a:p>
            <a:pPr algn="l">
              <a:lnSpc>
                <a:spcPts val="2954"/>
              </a:lnSpc>
            </a:pPr>
            <a:endParaRPr lang="en-US" sz="2369" spc="-45">
              <a:solidFill>
                <a:srgbClr val="875D1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206DEB2E-E0F3-4046-A3C7-9E8373783C76}"/>
              </a:ext>
            </a:extLst>
          </p:cNvPr>
          <p:cNvSpPr/>
          <p:nvPr/>
        </p:nvSpPr>
        <p:spPr>
          <a:xfrm>
            <a:off x="1" y="34513"/>
            <a:ext cx="2819400" cy="765587"/>
          </a:xfrm>
          <a:custGeom>
            <a:avLst/>
            <a:gdLst/>
            <a:ahLst/>
            <a:cxnLst/>
            <a:rect l="l" t="t" r="r" b="b"/>
            <a:pathLst>
              <a:path w="3682175" h="994187">
                <a:moveTo>
                  <a:pt x="0" y="0"/>
                </a:moveTo>
                <a:lnTo>
                  <a:pt x="3682175" y="0"/>
                </a:lnTo>
                <a:lnTo>
                  <a:pt x="3682175" y="994187"/>
                </a:lnTo>
                <a:lnTo>
                  <a:pt x="0" y="9941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5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23347" y="1028700"/>
            <a:ext cx="11866706" cy="8229600"/>
            <a:chOff x="0" y="0"/>
            <a:chExt cx="3125387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5388" cy="2167467"/>
            </a:xfrm>
            <a:custGeom>
              <a:avLst/>
              <a:gdLst/>
              <a:ahLst/>
              <a:cxnLst/>
              <a:rect l="l" t="t" r="r" b="b"/>
              <a:pathLst>
                <a:path w="3125388" h="2167467">
                  <a:moveTo>
                    <a:pt x="32620" y="0"/>
                  </a:moveTo>
                  <a:lnTo>
                    <a:pt x="3092767" y="0"/>
                  </a:lnTo>
                  <a:cubicBezTo>
                    <a:pt x="3110783" y="0"/>
                    <a:pt x="3125388" y="14605"/>
                    <a:pt x="3125388" y="32620"/>
                  </a:cubicBezTo>
                  <a:lnTo>
                    <a:pt x="3125388" y="2134846"/>
                  </a:lnTo>
                  <a:cubicBezTo>
                    <a:pt x="3125388" y="2152862"/>
                    <a:pt x="3110783" y="2167467"/>
                    <a:pt x="3092767" y="2167467"/>
                  </a:cubicBezTo>
                  <a:lnTo>
                    <a:pt x="32620" y="2167467"/>
                  </a:lnTo>
                  <a:cubicBezTo>
                    <a:pt x="14605" y="2167467"/>
                    <a:pt x="0" y="2152862"/>
                    <a:pt x="0" y="2134846"/>
                  </a:cubicBezTo>
                  <a:lnTo>
                    <a:pt x="0" y="32620"/>
                  </a:lnTo>
                  <a:cubicBezTo>
                    <a:pt x="0" y="14605"/>
                    <a:pt x="14605" y="0"/>
                    <a:pt x="326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125387" cy="2167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575065"/>
            <a:ext cx="9114886" cy="1903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4"/>
              </a:lnSpc>
            </a:pPr>
            <a:r>
              <a:rPr lang="en-US" sz="7905" spc="-379">
                <a:solidFill>
                  <a:srgbClr val="875D1E"/>
                </a:solidFill>
                <a:latin typeface="Archivo Black"/>
                <a:ea typeface="Archivo Black"/>
                <a:cs typeface="Archivo Black"/>
                <a:sym typeface="Archivo Black"/>
              </a:rPr>
              <a:t>ANALYSE FONCTIONNELLE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8338" y="3613876"/>
            <a:ext cx="6186159" cy="45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9"/>
              </a:lnSpc>
            </a:pPr>
            <a:r>
              <a:rPr lang="en-US" sz="3069" b="1" spc="-58">
                <a:solidFill>
                  <a:srgbClr val="875D1E"/>
                </a:solidFill>
                <a:latin typeface="Inter Bold"/>
                <a:ea typeface="Inter Bold"/>
                <a:cs typeface="Inter Bold"/>
                <a:sym typeface="Inter Bold"/>
              </a:rPr>
              <a:t>Responsable (Admin)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334016"/>
            <a:ext cx="8496321" cy="171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3"/>
              </a:lnSpc>
            </a:pPr>
            <a:r>
              <a:rPr lang="en-US" sz="21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✔Gérer la liste des espèces</a:t>
            </a:r>
          </a:p>
          <a:p>
            <a:pPr algn="just">
              <a:lnSpc>
                <a:spcPts val="2733"/>
              </a:lnSpc>
            </a:pPr>
            <a:r>
              <a:rPr lang="en-US" sz="21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✔ Mettre à jour les fiches médicales</a:t>
            </a:r>
          </a:p>
          <a:p>
            <a:pPr algn="just">
              <a:lnSpc>
                <a:spcPts val="2733"/>
              </a:lnSpc>
            </a:pPr>
            <a:r>
              <a:rPr lang="en-US" sz="21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✔ Accès complet à /admin Django</a:t>
            </a:r>
          </a:p>
          <a:p>
            <a:pPr algn="just">
              <a:lnSpc>
                <a:spcPts val="2733"/>
              </a:lnSpc>
            </a:pPr>
            <a:r>
              <a:rPr lang="en-US" sz="21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✔ Gestion des utilisateurs</a:t>
            </a:r>
          </a:p>
          <a:p>
            <a:pPr algn="just">
              <a:lnSpc>
                <a:spcPts val="2733"/>
              </a:lnSpc>
            </a:pPr>
            <a:r>
              <a:rPr lang="en-US" sz="21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✔ Supervision des adoptions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846295" y="1028700"/>
            <a:ext cx="6413005" cy="8229600"/>
            <a:chOff x="0" y="0"/>
            <a:chExt cx="633383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3383" cy="812800"/>
            </a:xfrm>
            <a:custGeom>
              <a:avLst/>
              <a:gdLst/>
              <a:ahLst/>
              <a:cxnLst/>
              <a:rect l="l" t="t" r="r" b="b"/>
              <a:pathLst>
                <a:path w="633383" h="812800">
                  <a:moveTo>
                    <a:pt x="60361" y="0"/>
                  </a:moveTo>
                  <a:lnTo>
                    <a:pt x="573022" y="0"/>
                  </a:lnTo>
                  <a:cubicBezTo>
                    <a:pt x="606359" y="0"/>
                    <a:pt x="633383" y="27025"/>
                    <a:pt x="633383" y="60361"/>
                  </a:cubicBezTo>
                  <a:lnTo>
                    <a:pt x="633383" y="752439"/>
                  </a:lnTo>
                  <a:cubicBezTo>
                    <a:pt x="633383" y="785775"/>
                    <a:pt x="606359" y="812800"/>
                    <a:pt x="573022" y="812800"/>
                  </a:cubicBezTo>
                  <a:lnTo>
                    <a:pt x="60361" y="812800"/>
                  </a:lnTo>
                  <a:cubicBezTo>
                    <a:pt x="27025" y="812800"/>
                    <a:pt x="0" y="785775"/>
                    <a:pt x="0" y="752439"/>
                  </a:cubicBezTo>
                  <a:lnTo>
                    <a:pt x="0" y="60361"/>
                  </a:lnTo>
                  <a:cubicBezTo>
                    <a:pt x="0" y="27025"/>
                    <a:pt x="27025" y="0"/>
                    <a:pt x="60361" y="0"/>
                  </a:cubicBezTo>
                  <a:close/>
                </a:path>
              </a:pathLst>
            </a:custGeom>
            <a:blipFill>
              <a:blip r:embed="rId2"/>
              <a:stretch>
                <a:fillRect t="-8481" b="-8481"/>
              </a:stretch>
            </a:blipFill>
            <a:ln w="3810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118338" y="6346311"/>
            <a:ext cx="6186159" cy="45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9"/>
              </a:lnSpc>
            </a:pPr>
            <a:r>
              <a:rPr lang="en-US" sz="3069" b="1" spc="-58">
                <a:solidFill>
                  <a:srgbClr val="875D1E"/>
                </a:solidFill>
                <a:latin typeface="Inter Bold"/>
                <a:ea typeface="Inter Bold"/>
                <a:cs typeface="Inter Bold"/>
                <a:sym typeface="Inter Bold"/>
              </a:rPr>
              <a:t>Soigneur / Bénévole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8338" y="7070650"/>
            <a:ext cx="8496321" cy="171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3"/>
              </a:lnSpc>
            </a:pPr>
            <a:r>
              <a:rPr lang="en-US" sz="21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✔Consulter les fiches animaux</a:t>
            </a:r>
          </a:p>
          <a:p>
            <a:pPr algn="just">
              <a:lnSpc>
                <a:spcPts val="2733"/>
              </a:lnSpc>
            </a:pPr>
            <a:r>
              <a:rPr lang="en-US" sz="21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✔ Saisir les soins et observations</a:t>
            </a:r>
          </a:p>
          <a:p>
            <a:pPr algn="just">
              <a:lnSpc>
                <a:spcPts val="2733"/>
              </a:lnSpc>
            </a:pPr>
            <a:r>
              <a:rPr lang="en-US" sz="21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✔ Filtrer et rechercher des animaux</a:t>
            </a:r>
          </a:p>
          <a:p>
            <a:pPr algn="just">
              <a:lnSpc>
                <a:spcPts val="2733"/>
              </a:lnSpc>
            </a:pPr>
            <a:r>
              <a:rPr lang="en-US" sz="21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✔ Mettre à jour le statut d'un animal</a:t>
            </a:r>
          </a:p>
          <a:p>
            <a:pPr algn="just">
              <a:lnSpc>
                <a:spcPts val="2733"/>
              </a:lnSpc>
            </a:pPr>
            <a:r>
              <a:rPr lang="en-US" sz="21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✔ Suivre les familles d'accueil</a:t>
            </a: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434096D4-E3CA-05C9-4606-6A50219D93CC}"/>
              </a:ext>
            </a:extLst>
          </p:cNvPr>
          <p:cNvSpPr/>
          <p:nvPr/>
        </p:nvSpPr>
        <p:spPr>
          <a:xfrm>
            <a:off x="1" y="34513"/>
            <a:ext cx="2819400" cy="765587"/>
          </a:xfrm>
          <a:custGeom>
            <a:avLst/>
            <a:gdLst/>
            <a:ahLst/>
            <a:cxnLst/>
            <a:rect l="l" t="t" r="r" b="b"/>
            <a:pathLst>
              <a:path w="3682175" h="994187">
                <a:moveTo>
                  <a:pt x="0" y="0"/>
                </a:moveTo>
                <a:lnTo>
                  <a:pt x="3682175" y="0"/>
                </a:lnTo>
                <a:lnTo>
                  <a:pt x="3682175" y="994187"/>
                </a:lnTo>
                <a:lnTo>
                  <a:pt x="0" y="9941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5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6413005" cy="3940882"/>
            <a:chOff x="0" y="0"/>
            <a:chExt cx="633383" cy="3892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3383" cy="389223"/>
            </a:xfrm>
            <a:custGeom>
              <a:avLst/>
              <a:gdLst/>
              <a:ahLst/>
              <a:cxnLst/>
              <a:rect l="l" t="t" r="r" b="b"/>
              <a:pathLst>
                <a:path w="633383" h="389223">
                  <a:moveTo>
                    <a:pt x="60361" y="0"/>
                  </a:moveTo>
                  <a:lnTo>
                    <a:pt x="573022" y="0"/>
                  </a:lnTo>
                  <a:cubicBezTo>
                    <a:pt x="606359" y="0"/>
                    <a:pt x="633383" y="27025"/>
                    <a:pt x="633383" y="60361"/>
                  </a:cubicBezTo>
                  <a:lnTo>
                    <a:pt x="633383" y="328862"/>
                  </a:lnTo>
                  <a:cubicBezTo>
                    <a:pt x="633383" y="362198"/>
                    <a:pt x="606359" y="389223"/>
                    <a:pt x="573022" y="389223"/>
                  </a:cubicBezTo>
                  <a:lnTo>
                    <a:pt x="60361" y="389223"/>
                  </a:lnTo>
                  <a:cubicBezTo>
                    <a:pt x="27025" y="389223"/>
                    <a:pt x="0" y="362198"/>
                    <a:pt x="0" y="328862"/>
                  </a:cubicBezTo>
                  <a:lnTo>
                    <a:pt x="0" y="60361"/>
                  </a:lnTo>
                  <a:cubicBezTo>
                    <a:pt x="0" y="27025"/>
                    <a:pt x="27025" y="0"/>
                    <a:pt x="60361" y="0"/>
                  </a:cubicBezTo>
                  <a:close/>
                </a:path>
              </a:pathLst>
            </a:custGeom>
            <a:blipFill>
              <a:blip r:embed="rId2"/>
              <a:stretch>
                <a:fillRect t="-120904" b="-23342"/>
              </a:stretch>
            </a:blipFill>
            <a:ln w="381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28700" y="5186345"/>
            <a:ext cx="6413005" cy="4071955"/>
            <a:chOff x="0" y="0"/>
            <a:chExt cx="633383" cy="4021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3383" cy="402168"/>
            </a:xfrm>
            <a:custGeom>
              <a:avLst/>
              <a:gdLst/>
              <a:ahLst/>
              <a:cxnLst/>
              <a:rect l="l" t="t" r="r" b="b"/>
              <a:pathLst>
                <a:path w="633383" h="402168">
                  <a:moveTo>
                    <a:pt x="60361" y="0"/>
                  </a:moveTo>
                  <a:lnTo>
                    <a:pt x="573022" y="0"/>
                  </a:lnTo>
                  <a:cubicBezTo>
                    <a:pt x="606359" y="0"/>
                    <a:pt x="633383" y="27025"/>
                    <a:pt x="633383" y="60361"/>
                  </a:cubicBezTo>
                  <a:lnTo>
                    <a:pt x="633383" y="341807"/>
                  </a:lnTo>
                  <a:cubicBezTo>
                    <a:pt x="633383" y="375144"/>
                    <a:pt x="606359" y="402168"/>
                    <a:pt x="573022" y="402168"/>
                  </a:cubicBezTo>
                  <a:lnTo>
                    <a:pt x="60361" y="402168"/>
                  </a:lnTo>
                  <a:cubicBezTo>
                    <a:pt x="27025" y="402168"/>
                    <a:pt x="0" y="375144"/>
                    <a:pt x="0" y="341807"/>
                  </a:cubicBezTo>
                  <a:lnTo>
                    <a:pt x="0" y="60361"/>
                  </a:lnTo>
                  <a:cubicBezTo>
                    <a:pt x="0" y="27025"/>
                    <a:pt x="27025" y="0"/>
                    <a:pt x="60361" y="0"/>
                  </a:cubicBezTo>
                  <a:close/>
                </a:path>
              </a:pathLst>
            </a:custGeom>
            <a:blipFill>
              <a:blip r:embed="rId3"/>
              <a:stretch>
                <a:fillRect t="-8870" b="-8870"/>
              </a:stretch>
            </a:blipFill>
            <a:ln w="381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7693632" y="1028700"/>
            <a:ext cx="9565668" cy="8229600"/>
            <a:chOff x="0" y="0"/>
            <a:chExt cx="2519353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19353" cy="2167467"/>
            </a:xfrm>
            <a:custGeom>
              <a:avLst/>
              <a:gdLst/>
              <a:ahLst/>
              <a:cxnLst/>
              <a:rect l="l" t="t" r="r" b="b"/>
              <a:pathLst>
                <a:path w="2519353" h="2167467">
                  <a:moveTo>
                    <a:pt x="40467" y="0"/>
                  </a:moveTo>
                  <a:lnTo>
                    <a:pt x="2478886" y="0"/>
                  </a:lnTo>
                  <a:cubicBezTo>
                    <a:pt x="2489618" y="0"/>
                    <a:pt x="2499911" y="4263"/>
                    <a:pt x="2507500" y="11853"/>
                  </a:cubicBezTo>
                  <a:cubicBezTo>
                    <a:pt x="2515089" y="19442"/>
                    <a:pt x="2519353" y="29735"/>
                    <a:pt x="2519353" y="40467"/>
                  </a:cubicBezTo>
                  <a:lnTo>
                    <a:pt x="2519353" y="2126999"/>
                  </a:lnTo>
                  <a:cubicBezTo>
                    <a:pt x="2519353" y="2137732"/>
                    <a:pt x="2515089" y="2148025"/>
                    <a:pt x="2507500" y="2155614"/>
                  </a:cubicBezTo>
                  <a:cubicBezTo>
                    <a:pt x="2499911" y="2163203"/>
                    <a:pt x="2489618" y="2167467"/>
                    <a:pt x="2478886" y="2167467"/>
                  </a:cubicBezTo>
                  <a:lnTo>
                    <a:pt x="40467" y="2167467"/>
                  </a:lnTo>
                  <a:cubicBezTo>
                    <a:pt x="29735" y="2167467"/>
                    <a:pt x="19442" y="2163203"/>
                    <a:pt x="11853" y="2155614"/>
                  </a:cubicBezTo>
                  <a:cubicBezTo>
                    <a:pt x="4263" y="2148025"/>
                    <a:pt x="0" y="2137732"/>
                    <a:pt x="0" y="2126999"/>
                  </a:cubicBezTo>
                  <a:lnTo>
                    <a:pt x="0" y="40467"/>
                  </a:lnTo>
                  <a:cubicBezTo>
                    <a:pt x="0" y="29735"/>
                    <a:pt x="4263" y="19442"/>
                    <a:pt x="11853" y="11853"/>
                  </a:cubicBezTo>
                  <a:cubicBezTo>
                    <a:pt x="19442" y="4263"/>
                    <a:pt x="29735" y="0"/>
                    <a:pt x="404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519353" cy="2167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891943" y="1555631"/>
            <a:ext cx="7120056" cy="1903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4"/>
              </a:lnSpc>
            </a:pPr>
            <a:r>
              <a:rPr lang="en-US" sz="7905" spc="-379">
                <a:solidFill>
                  <a:srgbClr val="875D1E"/>
                </a:solidFill>
                <a:latin typeface="Archivo Black"/>
                <a:ea typeface="Archivo Black"/>
                <a:cs typeface="Archivo Black"/>
                <a:sym typeface="Archivo Black"/>
              </a:rPr>
              <a:t>FONCTIONS PRINCIPALES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91943" y="3468906"/>
            <a:ext cx="4705487" cy="378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6"/>
              </a:lnSpc>
            </a:pPr>
            <a:r>
              <a:rPr lang="en-US" sz="2597" b="1" spc="-49">
                <a:solidFill>
                  <a:srgbClr val="875D1E"/>
                </a:solidFill>
                <a:latin typeface="Inter Bold"/>
                <a:ea typeface="Inter Bold"/>
                <a:cs typeface="Inter Bold"/>
                <a:sym typeface="Inter Bold"/>
              </a:rPr>
              <a:t>Fiches Animales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91943" y="3980289"/>
            <a:ext cx="7120056" cy="68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3"/>
              </a:lnSpc>
            </a:pPr>
            <a:r>
              <a:rPr lang="en-US" sz="21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Enregistrement complet : nom, espèce, race, âge estimé, date d'arrivée.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91943" y="4979107"/>
            <a:ext cx="4705487" cy="378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6"/>
              </a:lnSpc>
            </a:pPr>
            <a:r>
              <a:rPr lang="en-US" sz="2597" b="1" spc="-49">
                <a:solidFill>
                  <a:srgbClr val="875D1E"/>
                </a:solidFill>
                <a:latin typeface="Inter Bold"/>
                <a:ea typeface="Inter Bold"/>
                <a:cs typeface="Inter Bold"/>
                <a:sym typeface="Inter Bold"/>
              </a:rPr>
              <a:t>Gestion Adoptions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91943" y="8007984"/>
            <a:ext cx="4705487" cy="378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6"/>
              </a:lnSpc>
            </a:pPr>
            <a:r>
              <a:rPr lang="en-US" sz="2597" b="1" spc="-49">
                <a:solidFill>
                  <a:srgbClr val="875D1E"/>
                </a:solidFill>
                <a:latin typeface="Inter Bold"/>
                <a:ea typeface="Inter Bold"/>
                <a:cs typeface="Inter Bold"/>
                <a:sym typeface="Inter Bold"/>
              </a:rPr>
              <a:t>Recherche &amp; Filtres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91943" y="6493546"/>
            <a:ext cx="4705487" cy="378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6"/>
              </a:lnSpc>
            </a:pPr>
            <a:r>
              <a:rPr lang="en-US" sz="2597" b="1" spc="-49">
                <a:solidFill>
                  <a:srgbClr val="875D1E"/>
                </a:solidFill>
                <a:latin typeface="Inter Bold"/>
                <a:ea typeface="Inter Bold"/>
                <a:cs typeface="Inter Bold"/>
                <a:sym typeface="Inter Bold"/>
              </a:rPr>
              <a:t>Suivi de Santé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91943" y="8519777"/>
            <a:ext cx="7120056" cy="68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3"/>
              </a:lnSpc>
            </a:pPr>
            <a:r>
              <a:rPr lang="en-US" sz="21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Recherche par nom, filtres par espèce, sexe, compatibilité, durée de séjour.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16438" y="7005339"/>
            <a:ext cx="7120056" cy="68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3"/>
              </a:lnSpc>
            </a:pPr>
            <a:r>
              <a:rPr lang="en-US" sz="21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Statut vaccination &amp; stérilisation, historique médical, alertes.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16438" y="5490900"/>
            <a:ext cx="7120056" cy="68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3"/>
              </a:lnSpc>
            </a:pPr>
            <a:r>
              <a:rPr lang="en-US" sz="21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Suivi du statut : Disponible · En soin · Adopté · Famille d'accueil.</a:t>
            </a: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FE48A3CA-B382-2351-66EB-370796D2F960}"/>
              </a:ext>
            </a:extLst>
          </p:cNvPr>
          <p:cNvSpPr/>
          <p:nvPr/>
        </p:nvSpPr>
        <p:spPr>
          <a:xfrm>
            <a:off x="1" y="34513"/>
            <a:ext cx="2819400" cy="765587"/>
          </a:xfrm>
          <a:custGeom>
            <a:avLst/>
            <a:gdLst/>
            <a:ahLst/>
            <a:cxnLst/>
            <a:rect l="l" t="t" r="r" b="b"/>
            <a:pathLst>
              <a:path w="3682175" h="994187">
                <a:moveTo>
                  <a:pt x="0" y="0"/>
                </a:moveTo>
                <a:lnTo>
                  <a:pt x="3682175" y="0"/>
                </a:lnTo>
                <a:lnTo>
                  <a:pt x="3682175" y="994187"/>
                </a:lnTo>
                <a:lnTo>
                  <a:pt x="0" y="994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5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7166" y="-1155848"/>
            <a:ext cx="11204997" cy="10414148"/>
            <a:chOff x="0" y="0"/>
            <a:chExt cx="2951110" cy="27428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51110" cy="2742821"/>
            </a:xfrm>
            <a:custGeom>
              <a:avLst/>
              <a:gdLst/>
              <a:ahLst/>
              <a:cxnLst/>
              <a:rect l="l" t="t" r="r" b="b"/>
              <a:pathLst>
                <a:path w="2951110" h="2742821">
                  <a:moveTo>
                    <a:pt x="34547" y="0"/>
                  </a:moveTo>
                  <a:lnTo>
                    <a:pt x="2916564" y="0"/>
                  </a:lnTo>
                  <a:cubicBezTo>
                    <a:pt x="2925726" y="0"/>
                    <a:pt x="2934513" y="3640"/>
                    <a:pt x="2940992" y="10119"/>
                  </a:cubicBezTo>
                  <a:cubicBezTo>
                    <a:pt x="2947471" y="16597"/>
                    <a:pt x="2951110" y="25384"/>
                    <a:pt x="2951110" y="34547"/>
                  </a:cubicBezTo>
                  <a:lnTo>
                    <a:pt x="2951110" y="2708274"/>
                  </a:lnTo>
                  <a:cubicBezTo>
                    <a:pt x="2951110" y="2727354"/>
                    <a:pt x="2935643" y="2742821"/>
                    <a:pt x="2916564" y="2742821"/>
                  </a:cubicBezTo>
                  <a:lnTo>
                    <a:pt x="34547" y="2742821"/>
                  </a:lnTo>
                  <a:cubicBezTo>
                    <a:pt x="15467" y="2742821"/>
                    <a:pt x="0" y="2727354"/>
                    <a:pt x="0" y="2708274"/>
                  </a:cubicBezTo>
                  <a:lnTo>
                    <a:pt x="0" y="34547"/>
                  </a:lnTo>
                  <a:cubicBezTo>
                    <a:pt x="0" y="15467"/>
                    <a:pt x="15467" y="0"/>
                    <a:pt x="345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951110" cy="2742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648086" y="622406"/>
            <a:ext cx="6413005" cy="10319761"/>
            <a:chOff x="0" y="0"/>
            <a:chExt cx="633383" cy="10192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3383" cy="1019236"/>
            </a:xfrm>
            <a:custGeom>
              <a:avLst/>
              <a:gdLst/>
              <a:ahLst/>
              <a:cxnLst/>
              <a:rect l="l" t="t" r="r" b="b"/>
              <a:pathLst>
                <a:path w="633383" h="1019236">
                  <a:moveTo>
                    <a:pt x="60361" y="0"/>
                  </a:moveTo>
                  <a:lnTo>
                    <a:pt x="573022" y="0"/>
                  </a:lnTo>
                  <a:cubicBezTo>
                    <a:pt x="606359" y="0"/>
                    <a:pt x="633383" y="27025"/>
                    <a:pt x="633383" y="60361"/>
                  </a:cubicBezTo>
                  <a:lnTo>
                    <a:pt x="633383" y="958875"/>
                  </a:lnTo>
                  <a:cubicBezTo>
                    <a:pt x="633383" y="992211"/>
                    <a:pt x="606359" y="1019236"/>
                    <a:pt x="573022" y="1019236"/>
                  </a:cubicBezTo>
                  <a:lnTo>
                    <a:pt x="60361" y="1019236"/>
                  </a:lnTo>
                  <a:cubicBezTo>
                    <a:pt x="27025" y="1019236"/>
                    <a:pt x="0" y="992211"/>
                    <a:pt x="0" y="958875"/>
                  </a:cubicBezTo>
                  <a:lnTo>
                    <a:pt x="0" y="60361"/>
                  </a:lnTo>
                  <a:cubicBezTo>
                    <a:pt x="0" y="27025"/>
                    <a:pt x="27025" y="0"/>
                    <a:pt x="60361" y="0"/>
                  </a:cubicBezTo>
                  <a:close/>
                </a:path>
              </a:pathLst>
            </a:custGeom>
            <a:blipFill>
              <a:blip r:embed="rId2"/>
              <a:stretch>
                <a:fillRect l="-44473" r="-44473"/>
              </a:stretch>
            </a:blipFill>
            <a:ln w="3810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7" name="Freeform 7"/>
          <p:cNvSpPr/>
          <p:nvPr/>
        </p:nvSpPr>
        <p:spPr>
          <a:xfrm>
            <a:off x="160904" y="3819569"/>
            <a:ext cx="11301259" cy="5438731"/>
          </a:xfrm>
          <a:custGeom>
            <a:avLst/>
            <a:gdLst/>
            <a:ahLst/>
            <a:cxnLst/>
            <a:rect l="l" t="t" r="r" b="b"/>
            <a:pathLst>
              <a:path w="11301259" h="5438731">
                <a:moveTo>
                  <a:pt x="0" y="0"/>
                </a:moveTo>
                <a:lnTo>
                  <a:pt x="11301259" y="0"/>
                </a:lnTo>
                <a:lnTo>
                  <a:pt x="11301259" y="5438731"/>
                </a:lnTo>
                <a:lnTo>
                  <a:pt x="0" y="54387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12710" y="831956"/>
            <a:ext cx="8397647" cy="1903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4"/>
              </a:lnSpc>
            </a:pPr>
            <a:r>
              <a:rPr lang="en-US" sz="7905" spc="-379">
                <a:solidFill>
                  <a:srgbClr val="875D1E"/>
                </a:solidFill>
                <a:latin typeface="Archivo Black"/>
                <a:ea typeface="Archivo Black"/>
                <a:cs typeface="Archivo Black"/>
                <a:sym typeface="Archivo Black"/>
              </a:rPr>
              <a:t>ARCHITECTURE DES DONNÉES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73968" y="2918087"/>
            <a:ext cx="7275131" cy="33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sz="2269" b="1" spc="-43">
                <a:solidFill>
                  <a:srgbClr val="875D1E"/>
                </a:solidFill>
                <a:latin typeface="Inter Bold"/>
                <a:ea typeface="Inter Bold"/>
                <a:cs typeface="Inter Bold"/>
                <a:sym typeface="Inter Bold"/>
              </a:rPr>
              <a:t>Schéma relationnel — Modèles Django</a:t>
            </a: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38FDC8E2-1A52-6771-AFC7-A7D97B0A7985}"/>
              </a:ext>
            </a:extLst>
          </p:cNvPr>
          <p:cNvSpPr/>
          <p:nvPr/>
        </p:nvSpPr>
        <p:spPr>
          <a:xfrm>
            <a:off x="1" y="34513"/>
            <a:ext cx="2819400" cy="765587"/>
          </a:xfrm>
          <a:custGeom>
            <a:avLst/>
            <a:gdLst/>
            <a:ahLst/>
            <a:cxnLst/>
            <a:rect l="l" t="t" r="r" b="b"/>
            <a:pathLst>
              <a:path w="3682175" h="994187">
                <a:moveTo>
                  <a:pt x="0" y="0"/>
                </a:moveTo>
                <a:lnTo>
                  <a:pt x="3682175" y="0"/>
                </a:lnTo>
                <a:lnTo>
                  <a:pt x="3682175" y="994187"/>
                </a:lnTo>
                <a:lnTo>
                  <a:pt x="0" y="994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1312" b="-9552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2143617"/>
                  </a:lnTo>
                  <a:cubicBezTo>
                    <a:pt x="4274726" y="2149942"/>
                    <a:pt x="4272213" y="2156009"/>
                    <a:pt x="4267741" y="2160481"/>
                  </a:cubicBezTo>
                  <a:cubicBezTo>
                    <a:pt x="4263268" y="2164954"/>
                    <a:pt x="4257201" y="2167467"/>
                    <a:pt x="4250876" y="2167467"/>
                  </a:cubicBezTo>
                  <a:lnTo>
                    <a:pt x="23850" y="2167467"/>
                  </a:lnTo>
                  <a:cubicBezTo>
                    <a:pt x="17524" y="2167467"/>
                    <a:pt x="11458" y="2164954"/>
                    <a:pt x="6985" y="2160481"/>
                  </a:cubicBezTo>
                  <a:cubicBezTo>
                    <a:pt x="2513" y="2156009"/>
                    <a:pt x="0" y="2149942"/>
                    <a:pt x="0" y="2143617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875D1E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4274726" cy="2167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505397" y="3395912"/>
            <a:ext cx="13277205" cy="5515058"/>
          </a:xfrm>
          <a:custGeom>
            <a:avLst/>
            <a:gdLst/>
            <a:ahLst/>
            <a:cxnLst/>
            <a:rect l="l" t="t" r="r" b="b"/>
            <a:pathLst>
              <a:path w="13277205" h="5515058">
                <a:moveTo>
                  <a:pt x="0" y="0"/>
                </a:moveTo>
                <a:lnTo>
                  <a:pt x="13277206" y="0"/>
                </a:lnTo>
                <a:lnTo>
                  <a:pt x="13277206" y="5515058"/>
                </a:lnTo>
                <a:lnTo>
                  <a:pt x="0" y="55150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7" t="-921" b="-158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56678" y="1504543"/>
            <a:ext cx="12974643" cy="189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4"/>
              </a:lnSpc>
            </a:pPr>
            <a:r>
              <a:rPr lang="en-US" sz="7905" spc="-379">
                <a:solidFill>
                  <a:srgbClr val="875D1E"/>
                </a:solidFill>
                <a:latin typeface="Archivo Black"/>
                <a:ea typeface="Archivo Black"/>
                <a:cs typeface="Archivo Black"/>
                <a:sym typeface="Archivo Black"/>
              </a:rPr>
              <a:t>SPÉCIFICATIONS TECHNIQUES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0531DF4-2788-25F5-3B56-9F3E869212F1}"/>
              </a:ext>
            </a:extLst>
          </p:cNvPr>
          <p:cNvSpPr/>
          <p:nvPr/>
        </p:nvSpPr>
        <p:spPr>
          <a:xfrm>
            <a:off x="1" y="34513"/>
            <a:ext cx="2819400" cy="765587"/>
          </a:xfrm>
          <a:custGeom>
            <a:avLst/>
            <a:gdLst/>
            <a:ahLst/>
            <a:cxnLst/>
            <a:rect l="l" t="t" r="r" b="b"/>
            <a:pathLst>
              <a:path w="3682175" h="994187">
                <a:moveTo>
                  <a:pt x="0" y="0"/>
                </a:moveTo>
                <a:lnTo>
                  <a:pt x="3682175" y="0"/>
                </a:lnTo>
                <a:lnTo>
                  <a:pt x="3682175" y="994187"/>
                </a:lnTo>
                <a:lnTo>
                  <a:pt x="0" y="994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5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99896" y="2792088"/>
            <a:ext cx="15251283" cy="7231144"/>
            <a:chOff x="0" y="0"/>
            <a:chExt cx="1506300" cy="7141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6300" cy="714187"/>
            </a:xfrm>
            <a:custGeom>
              <a:avLst/>
              <a:gdLst/>
              <a:ahLst/>
              <a:cxnLst/>
              <a:rect l="l" t="t" r="r" b="b"/>
              <a:pathLst>
                <a:path w="1506300" h="714187">
                  <a:moveTo>
                    <a:pt x="25381" y="0"/>
                  </a:moveTo>
                  <a:lnTo>
                    <a:pt x="1480918" y="0"/>
                  </a:lnTo>
                  <a:cubicBezTo>
                    <a:pt x="1487650" y="0"/>
                    <a:pt x="1494106" y="2674"/>
                    <a:pt x="1498866" y="7434"/>
                  </a:cubicBezTo>
                  <a:cubicBezTo>
                    <a:pt x="1503625" y="12194"/>
                    <a:pt x="1506300" y="18650"/>
                    <a:pt x="1506300" y="25381"/>
                  </a:cubicBezTo>
                  <a:lnTo>
                    <a:pt x="1506300" y="688806"/>
                  </a:lnTo>
                  <a:cubicBezTo>
                    <a:pt x="1506300" y="702824"/>
                    <a:pt x="1494936" y="714187"/>
                    <a:pt x="1480918" y="714187"/>
                  </a:cubicBezTo>
                  <a:lnTo>
                    <a:pt x="25381" y="714187"/>
                  </a:lnTo>
                  <a:cubicBezTo>
                    <a:pt x="18650" y="714187"/>
                    <a:pt x="12194" y="711513"/>
                    <a:pt x="7434" y="706753"/>
                  </a:cubicBezTo>
                  <a:cubicBezTo>
                    <a:pt x="2674" y="701993"/>
                    <a:pt x="0" y="695537"/>
                    <a:pt x="0" y="688806"/>
                  </a:cubicBezTo>
                  <a:lnTo>
                    <a:pt x="0" y="25381"/>
                  </a:lnTo>
                  <a:cubicBezTo>
                    <a:pt x="0" y="18650"/>
                    <a:pt x="2674" y="12194"/>
                    <a:pt x="7434" y="7434"/>
                  </a:cubicBezTo>
                  <a:cubicBezTo>
                    <a:pt x="12194" y="2674"/>
                    <a:pt x="18650" y="0"/>
                    <a:pt x="25381" y="0"/>
                  </a:cubicBezTo>
                  <a:close/>
                </a:path>
              </a:pathLst>
            </a:custGeom>
            <a:blipFill>
              <a:blip r:embed="rId2"/>
              <a:stretch>
                <a:fillRect t="-2068" b="-2068"/>
              </a:stretch>
            </a:blipFill>
            <a:ln w="381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652960" y="154201"/>
            <a:ext cx="11345156" cy="2447728"/>
            <a:chOff x="0" y="0"/>
            <a:chExt cx="2988025" cy="6446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8025" cy="644669"/>
            </a:xfrm>
            <a:custGeom>
              <a:avLst/>
              <a:gdLst/>
              <a:ahLst/>
              <a:cxnLst/>
              <a:rect l="l" t="t" r="r" b="b"/>
              <a:pathLst>
                <a:path w="2988025" h="644669">
                  <a:moveTo>
                    <a:pt x="34120" y="0"/>
                  </a:moveTo>
                  <a:lnTo>
                    <a:pt x="2953905" y="0"/>
                  </a:lnTo>
                  <a:cubicBezTo>
                    <a:pt x="2962954" y="0"/>
                    <a:pt x="2971632" y="3595"/>
                    <a:pt x="2978031" y="9993"/>
                  </a:cubicBezTo>
                  <a:cubicBezTo>
                    <a:pt x="2984430" y="16392"/>
                    <a:pt x="2988025" y="25071"/>
                    <a:pt x="2988025" y="34120"/>
                  </a:cubicBezTo>
                  <a:lnTo>
                    <a:pt x="2988025" y="610549"/>
                  </a:lnTo>
                  <a:cubicBezTo>
                    <a:pt x="2988025" y="629393"/>
                    <a:pt x="2972749" y="644669"/>
                    <a:pt x="2953905" y="644669"/>
                  </a:cubicBezTo>
                  <a:lnTo>
                    <a:pt x="34120" y="644669"/>
                  </a:lnTo>
                  <a:cubicBezTo>
                    <a:pt x="15276" y="644669"/>
                    <a:pt x="0" y="629393"/>
                    <a:pt x="0" y="610549"/>
                  </a:cubicBezTo>
                  <a:lnTo>
                    <a:pt x="0" y="34120"/>
                  </a:lnTo>
                  <a:cubicBezTo>
                    <a:pt x="0" y="15276"/>
                    <a:pt x="15276" y="0"/>
                    <a:pt x="341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988025" cy="644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545509" y="240267"/>
            <a:ext cx="9560056" cy="2551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27"/>
              </a:lnSpc>
            </a:pPr>
            <a:r>
              <a:rPr lang="en-US" sz="10579" spc="-507">
                <a:solidFill>
                  <a:srgbClr val="875D1E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INTERFACE UTILISATEUR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4129ED5-D1BB-D8F6-2C1C-ED09ADFC76FD}"/>
              </a:ext>
            </a:extLst>
          </p:cNvPr>
          <p:cNvSpPr/>
          <p:nvPr/>
        </p:nvSpPr>
        <p:spPr>
          <a:xfrm>
            <a:off x="1" y="34513"/>
            <a:ext cx="2819400" cy="765587"/>
          </a:xfrm>
          <a:custGeom>
            <a:avLst/>
            <a:gdLst/>
            <a:ahLst/>
            <a:cxnLst/>
            <a:rect l="l" t="t" r="r" b="b"/>
            <a:pathLst>
              <a:path w="3682175" h="994187">
                <a:moveTo>
                  <a:pt x="0" y="0"/>
                </a:moveTo>
                <a:lnTo>
                  <a:pt x="3682175" y="0"/>
                </a:lnTo>
                <a:lnTo>
                  <a:pt x="3682175" y="994187"/>
                </a:lnTo>
                <a:lnTo>
                  <a:pt x="0" y="9941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5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9414812" cy="8229600"/>
            <a:chOff x="0" y="0"/>
            <a:chExt cx="2479621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9621" cy="2167467"/>
            </a:xfrm>
            <a:custGeom>
              <a:avLst/>
              <a:gdLst/>
              <a:ahLst/>
              <a:cxnLst/>
              <a:rect l="l" t="t" r="r" b="b"/>
              <a:pathLst>
                <a:path w="2479621" h="2167467">
                  <a:moveTo>
                    <a:pt x="41116" y="0"/>
                  </a:moveTo>
                  <a:lnTo>
                    <a:pt x="2438505" y="0"/>
                  </a:lnTo>
                  <a:cubicBezTo>
                    <a:pt x="2449410" y="0"/>
                    <a:pt x="2459868" y="4332"/>
                    <a:pt x="2467579" y="12042"/>
                  </a:cubicBezTo>
                  <a:cubicBezTo>
                    <a:pt x="2475289" y="19753"/>
                    <a:pt x="2479621" y="30211"/>
                    <a:pt x="2479621" y="41116"/>
                  </a:cubicBezTo>
                  <a:lnTo>
                    <a:pt x="2479621" y="2126351"/>
                  </a:lnTo>
                  <a:cubicBezTo>
                    <a:pt x="2479621" y="2137256"/>
                    <a:pt x="2475289" y="2147713"/>
                    <a:pt x="2467579" y="2155424"/>
                  </a:cubicBezTo>
                  <a:cubicBezTo>
                    <a:pt x="2459868" y="2163135"/>
                    <a:pt x="2449410" y="2167467"/>
                    <a:pt x="2438505" y="2167467"/>
                  </a:cubicBezTo>
                  <a:lnTo>
                    <a:pt x="41116" y="2167467"/>
                  </a:lnTo>
                  <a:cubicBezTo>
                    <a:pt x="30211" y="2167467"/>
                    <a:pt x="19753" y="2163135"/>
                    <a:pt x="12042" y="2155424"/>
                  </a:cubicBezTo>
                  <a:cubicBezTo>
                    <a:pt x="4332" y="2147713"/>
                    <a:pt x="0" y="2137256"/>
                    <a:pt x="0" y="2126351"/>
                  </a:cubicBezTo>
                  <a:lnTo>
                    <a:pt x="0" y="41116"/>
                  </a:lnTo>
                  <a:cubicBezTo>
                    <a:pt x="0" y="30211"/>
                    <a:pt x="4332" y="19753"/>
                    <a:pt x="12042" y="12042"/>
                  </a:cubicBezTo>
                  <a:cubicBezTo>
                    <a:pt x="19753" y="4332"/>
                    <a:pt x="30211" y="0"/>
                    <a:pt x="4111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875D1E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479621" cy="2167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93859" y="1603988"/>
            <a:ext cx="2953831" cy="7069499"/>
            <a:chOff x="0" y="0"/>
            <a:chExt cx="777964" cy="18619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77964" cy="1861926"/>
            </a:xfrm>
            <a:custGeom>
              <a:avLst/>
              <a:gdLst/>
              <a:ahLst/>
              <a:cxnLst/>
              <a:rect l="l" t="t" r="r" b="b"/>
              <a:pathLst>
                <a:path w="777964" h="1861926">
                  <a:moveTo>
                    <a:pt x="131049" y="0"/>
                  </a:moveTo>
                  <a:lnTo>
                    <a:pt x="646915" y="0"/>
                  </a:lnTo>
                  <a:cubicBezTo>
                    <a:pt x="681671" y="0"/>
                    <a:pt x="715004" y="13807"/>
                    <a:pt x="739580" y="38383"/>
                  </a:cubicBezTo>
                  <a:cubicBezTo>
                    <a:pt x="764157" y="62960"/>
                    <a:pt x="777964" y="96292"/>
                    <a:pt x="777964" y="131049"/>
                  </a:cubicBezTo>
                  <a:lnTo>
                    <a:pt x="777964" y="1730877"/>
                  </a:lnTo>
                  <a:cubicBezTo>
                    <a:pt x="777964" y="1765633"/>
                    <a:pt x="764157" y="1798966"/>
                    <a:pt x="739580" y="1823542"/>
                  </a:cubicBezTo>
                  <a:cubicBezTo>
                    <a:pt x="715004" y="1848119"/>
                    <a:pt x="681671" y="1861926"/>
                    <a:pt x="646915" y="1861926"/>
                  </a:cubicBezTo>
                  <a:lnTo>
                    <a:pt x="131049" y="1861926"/>
                  </a:lnTo>
                  <a:cubicBezTo>
                    <a:pt x="96292" y="1861926"/>
                    <a:pt x="62960" y="1848119"/>
                    <a:pt x="38383" y="1823542"/>
                  </a:cubicBezTo>
                  <a:cubicBezTo>
                    <a:pt x="13807" y="1798966"/>
                    <a:pt x="0" y="1765633"/>
                    <a:pt x="0" y="1730877"/>
                  </a:cubicBezTo>
                  <a:lnTo>
                    <a:pt x="0" y="131049"/>
                  </a:lnTo>
                  <a:cubicBezTo>
                    <a:pt x="0" y="96292"/>
                    <a:pt x="13807" y="62960"/>
                    <a:pt x="38383" y="38383"/>
                  </a:cubicBezTo>
                  <a:cubicBezTo>
                    <a:pt x="62960" y="13807"/>
                    <a:pt x="96292" y="0"/>
                    <a:pt x="13104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875D1E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777964" cy="18619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739375" y="4124368"/>
            <a:ext cx="6662800" cy="0"/>
          </a:xfrm>
          <a:prstGeom prst="line">
            <a:avLst/>
          </a:prstGeom>
          <a:ln w="19050" cap="flat">
            <a:solidFill>
              <a:srgbClr val="875D1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0739375" y="6399144"/>
            <a:ext cx="6662800" cy="0"/>
          </a:xfrm>
          <a:prstGeom prst="line">
            <a:avLst/>
          </a:prstGeom>
          <a:ln w="19050" cap="flat">
            <a:solidFill>
              <a:srgbClr val="875D1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0739375" y="8673487"/>
            <a:ext cx="6662800" cy="0"/>
          </a:xfrm>
          <a:prstGeom prst="line">
            <a:avLst/>
          </a:prstGeom>
          <a:ln w="19050" cap="flat">
            <a:solidFill>
              <a:srgbClr val="875D1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2593859" y="1619453"/>
            <a:ext cx="2953831" cy="2504915"/>
          </a:xfrm>
          <a:custGeom>
            <a:avLst/>
            <a:gdLst/>
            <a:ahLst/>
            <a:cxnLst/>
            <a:rect l="l" t="t" r="r" b="b"/>
            <a:pathLst>
              <a:path w="2953831" h="2504915">
                <a:moveTo>
                  <a:pt x="0" y="0"/>
                </a:moveTo>
                <a:lnTo>
                  <a:pt x="2953831" y="0"/>
                </a:lnTo>
                <a:lnTo>
                  <a:pt x="2953831" y="2504915"/>
                </a:lnTo>
                <a:lnTo>
                  <a:pt x="0" y="25049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803" t="-6174" r="-9730" b="-6176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593859" y="3908629"/>
            <a:ext cx="2953831" cy="2490515"/>
          </a:xfrm>
          <a:custGeom>
            <a:avLst/>
            <a:gdLst/>
            <a:ahLst/>
            <a:cxnLst/>
            <a:rect l="l" t="t" r="r" b="b"/>
            <a:pathLst>
              <a:path w="2953831" h="2490515">
                <a:moveTo>
                  <a:pt x="0" y="0"/>
                </a:moveTo>
                <a:lnTo>
                  <a:pt x="2953831" y="0"/>
                </a:lnTo>
                <a:lnTo>
                  <a:pt x="2953831" y="2490515"/>
                </a:lnTo>
                <a:lnTo>
                  <a:pt x="0" y="24905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122" r="-11122" b="-12733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593859" y="6399144"/>
            <a:ext cx="2953831" cy="2274344"/>
          </a:xfrm>
          <a:custGeom>
            <a:avLst/>
            <a:gdLst/>
            <a:ahLst/>
            <a:cxnLst/>
            <a:rect l="l" t="t" r="r" b="b"/>
            <a:pathLst>
              <a:path w="2953831" h="2274344">
                <a:moveTo>
                  <a:pt x="0" y="0"/>
                </a:moveTo>
                <a:lnTo>
                  <a:pt x="2953831" y="0"/>
                </a:lnTo>
                <a:lnTo>
                  <a:pt x="2953831" y="2274343"/>
                </a:lnTo>
                <a:lnTo>
                  <a:pt x="0" y="2274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85" t="-3807" r="-3299" b="-6956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102134" y="2372700"/>
            <a:ext cx="7525966" cy="189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4"/>
              </a:lnSpc>
            </a:pPr>
            <a:r>
              <a:rPr lang="en-US" sz="7905" spc="-379">
                <a:solidFill>
                  <a:srgbClr val="875D1E"/>
                </a:solidFill>
                <a:latin typeface="Archivo Black"/>
                <a:ea typeface="Archivo Black"/>
                <a:cs typeface="Archivo Black"/>
                <a:sym typeface="Archivo Black"/>
              </a:rPr>
              <a:t>LIVRABLES &amp; CONCLUSION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02134" y="4681098"/>
            <a:ext cx="4912237" cy="45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9"/>
              </a:lnSpc>
            </a:pPr>
            <a:r>
              <a:rPr lang="en-US" sz="3069" b="1" spc="-58">
                <a:solidFill>
                  <a:srgbClr val="875D1E"/>
                </a:solidFill>
                <a:latin typeface="Inter Bold"/>
                <a:ea typeface="Inter Bold"/>
                <a:cs typeface="Inter Bold"/>
                <a:sym typeface="Inter Bold"/>
              </a:rPr>
              <a:t>Objectifs atteints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02134" y="5519738"/>
            <a:ext cx="7267944" cy="235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11"/>
              </a:lnSpc>
            </a:pPr>
            <a:r>
              <a:rPr lang="en-US" sz="24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✔Application web fonctionnelle avec Django</a:t>
            </a:r>
          </a:p>
          <a:p>
            <a:pPr algn="just">
              <a:lnSpc>
                <a:spcPts val="3111"/>
              </a:lnSpc>
            </a:pPr>
            <a:r>
              <a:rPr lang="en-US" sz="24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✔Gestion complète des animaux (CRUD)</a:t>
            </a:r>
          </a:p>
          <a:p>
            <a:pPr algn="just">
              <a:lnSpc>
                <a:spcPts val="3111"/>
              </a:lnSpc>
            </a:pPr>
            <a:r>
              <a:rPr lang="en-US" sz="24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✔Interface Bootstrap avec badges de statut</a:t>
            </a:r>
          </a:p>
          <a:p>
            <a:pPr algn="just">
              <a:lnSpc>
                <a:spcPts val="3111"/>
              </a:lnSpc>
            </a:pPr>
            <a:r>
              <a:rPr lang="en-US" sz="24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✔Interface /admin configurée</a:t>
            </a:r>
          </a:p>
          <a:p>
            <a:pPr algn="just">
              <a:lnSpc>
                <a:spcPts val="3111"/>
              </a:lnSpc>
            </a:pPr>
            <a:r>
              <a:rPr lang="en-US" sz="24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✔Recherche et filtres opérationnels</a:t>
            </a:r>
          </a:p>
          <a:p>
            <a:pPr algn="just">
              <a:lnSpc>
                <a:spcPts val="3111"/>
              </a:lnSpc>
            </a:pPr>
            <a:r>
              <a:rPr lang="en-US" sz="2469">
                <a:solidFill>
                  <a:srgbClr val="875D1E"/>
                </a:solidFill>
                <a:latin typeface="Inter Light"/>
                <a:ea typeface="Inter Light"/>
                <a:cs typeface="Inter Light"/>
                <a:sym typeface="Inter Light"/>
              </a:rPr>
              <a:t>✔Code versionné sur GitHub</a:t>
            </a: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CD23AF6E-1AD6-2A3B-DF6E-61CC146C961A}"/>
              </a:ext>
            </a:extLst>
          </p:cNvPr>
          <p:cNvSpPr/>
          <p:nvPr/>
        </p:nvSpPr>
        <p:spPr>
          <a:xfrm>
            <a:off x="1" y="34513"/>
            <a:ext cx="2819400" cy="765587"/>
          </a:xfrm>
          <a:custGeom>
            <a:avLst/>
            <a:gdLst/>
            <a:ahLst/>
            <a:cxnLst/>
            <a:rect l="l" t="t" r="r" b="b"/>
            <a:pathLst>
              <a:path w="3682175" h="994187">
                <a:moveTo>
                  <a:pt x="0" y="0"/>
                </a:moveTo>
                <a:lnTo>
                  <a:pt x="3682175" y="0"/>
                </a:lnTo>
                <a:lnTo>
                  <a:pt x="3682175" y="994187"/>
                </a:lnTo>
                <a:lnTo>
                  <a:pt x="0" y="9941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5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2771" y="1028700"/>
            <a:ext cx="8188211" cy="8229600"/>
            <a:chOff x="0" y="0"/>
            <a:chExt cx="808712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8712" cy="812800"/>
            </a:xfrm>
            <a:custGeom>
              <a:avLst/>
              <a:gdLst/>
              <a:ahLst/>
              <a:cxnLst/>
              <a:rect l="l" t="t" r="r" b="b"/>
              <a:pathLst>
                <a:path w="808712" h="812800">
                  <a:moveTo>
                    <a:pt x="47275" y="0"/>
                  </a:moveTo>
                  <a:lnTo>
                    <a:pt x="761437" y="0"/>
                  </a:lnTo>
                  <a:cubicBezTo>
                    <a:pt x="787547" y="0"/>
                    <a:pt x="808712" y="21166"/>
                    <a:pt x="808712" y="47275"/>
                  </a:cubicBezTo>
                  <a:lnTo>
                    <a:pt x="808712" y="765525"/>
                  </a:lnTo>
                  <a:cubicBezTo>
                    <a:pt x="808712" y="791634"/>
                    <a:pt x="787547" y="812800"/>
                    <a:pt x="761437" y="812800"/>
                  </a:cubicBezTo>
                  <a:lnTo>
                    <a:pt x="47275" y="812800"/>
                  </a:lnTo>
                  <a:cubicBezTo>
                    <a:pt x="21166" y="812800"/>
                    <a:pt x="0" y="791634"/>
                    <a:pt x="0" y="765525"/>
                  </a:cubicBezTo>
                  <a:lnTo>
                    <a:pt x="0" y="47275"/>
                  </a:lnTo>
                  <a:cubicBezTo>
                    <a:pt x="0" y="21166"/>
                    <a:pt x="21166" y="0"/>
                    <a:pt x="47275" y="0"/>
                  </a:cubicBezTo>
                  <a:close/>
                </a:path>
              </a:pathLst>
            </a:custGeom>
            <a:blipFill>
              <a:blip r:embed="rId2"/>
              <a:stretch>
                <a:fillRect l="-25426" r="-25426"/>
              </a:stretch>
            </a:blipFill>
            <a:ln w="381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8649758" y="1028700"/>
            <a:ext cx="10820864" cy="8229600"/>
            <a:chOff x="0" y="0"/>
            <a:chExt cx="2849940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9940" cy="2167467"/>
            </a:xfrm>
            <a:custGeom>
              <a:avLst/>
              <a:gdLst/>
              <a:ahLst/>
              <a:cxnLst/>
              <a:rect l="l" t="t" r="r" b="b"/>
              <a:pathLst>
                <a:path w="2849940" h="2167467">
                  <a:moveTo>
                    <a:pt x="35773" y="0"/>
                  </a:moveTo>
                  <a:lnTo>
                    <a:pt x="2814167" y="0"/>
                  </a:lnTo>
                  <a:cubicBezTo>
                    <a:pt x="2833924" y="0"/>
                    <a:pt x="2849940" y="16016"/>
                    <a:pt x="2849940" y="35773"/>
                  </a:cubicBezTo>
                  <a:lnTo>
                    <a:pt x="2849940" y="2131694"/>
                  </a:lnTo>
                  <a:cubicBezTo>
                    <a:pt x="2849940" y="2151451"/>
                    <a:pt x="2833924" y="2167467"/>
                    <a:pt x="2814167" y="2167467"/>
                  </a:cubicBezTo>
                  <a:lnTo>
                    <a:pt x="35773" y="2167467"/>
                  </a:lnTo>
                  <a:cubicBezTo>
                    <a:pt x="16016" y="2167467"/>
                    <a:pt x="0" y="2151451"/>
                    <a:pt x="0" y="2131694"/>
                  </a:cubicBezTo>
                  <a:lnTo>
                    <a:pt x="0" y="35773"/>
                  </a:lnTo>
                  <a:cubicBezTo>
                    <a:pt x="0" y="16016"/>
                    <a:pt x="16016" y="0"/>
                    <a:pt x="357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849940" cy="2167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0" y="2176902"/>
            <a:ext cx="8373514" cy="6209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27"/>
              </a:lnSpc>
            </a:pPr>
            <a:r>
              <a:rPr lang="en-US" sz="10579" spc="-507">
                <a:solidFill>
                  <a:srgbClr val="875D1E"/>
                </a:solidFill>
                <a:latin typeface="Archivo Black"/>
                <a:ea typeface="Archivo Black"/>
                <a:cs typeface="Archivo Black"/>
                <a:sym typeface="Archivo Black"/>
              </a:rPr>
              <a:t>MERCI POUR VOTRE ATTENTION</a:t>
            </a:r>
          </a:p>
          <a:p>
            <a:pPr algn="l">
              <a:lnSpc>
                <a:spcPts val="9627"/>
              </a:lnSpc>
            </a:pPr>
            <a:endParaRPr lang="en-US" sz="10579" spc="-507">
              <a:solidFill>
                <a:srgbClr val="875D1E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5D81815-9E72-619B-5E70-1E765849A7A6}"/>
              </a:ext>
            </a:extLst>
          </p:cNvPr>
          <p:cNvSpPr/>
          <p:nvPr/>
        </p:nvSpPr>
        <p:spPr>
          <a:xfrm>
            <a:off x="1" y="34513"/>
            <a:ext cx="2819400" cy="765587"/>
          </a:xfrm>
          <a:custGeom>
            <a:avLst/>
            <a:gdLst/>
            <a:ahLst/>
            <a:cxnLst/>
            <a:rect l="l" t="t" r="r" b="b"/>
            <a:pathLst>
              <a:path w="3682175" h="994187">
                <a:moveTo>
                  <a:pt x="0" y="0"/>
                </a:moveTo>
                <a:lnTo>
                  <a:pt x="3682175" y="0"/>
                </a:lnTo>
                <a:lnTo>
                  <a:pt x="3682175" y="994187"/>
                </a:lnTo>
                <a:lnTo>
                  <a:pt x="0" y="9941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324</Words>
  <Application>Microsoft Office PowerPoint</Application>
  <PresentationFormat>Personnalisé</PresentationFormat>
  <Paragraphs>59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Archivo Black</vt:lpstr>
      <vt:lpstr>Inter</vt:lpstr>
      <vt:lpstr>Arial</vt:lpstr>
      <vt:lpstr>Calibri</vt:lpstr>
      <vt:lpstr>Inter Bold</vt:lpstr>
      <vt:lpstr>Inter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de Gestion de Refuge Animalier (SafeHaven)</dc:title>
  <cp:lastModifiedBy>Mohammedabdelkoddous Zhiri</cp:lastModifiedBy>
  <cp:revision>2</cp:revision>
  <dcterms:created xsi:type="dcterms:W3CDTF">2006-08-16T00:00:00Z</dcterms:created>
  <dcterms:modified xsi:type="dcterms:W3CDTF">2026-05-10T15:19:17Z</dcterms:modified>
  <dc:identifier>DAHJIbccvqc</dc:identifier>
</cp:coreProperties>
</file>